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818CF8">
              <a:alpha val="20000"/>
            </a:srgbClr>
          </a:solidFill>
          <a:ln w="12700">
            <a:solidFill>
              <a:srgbClr val="818CF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74320"/>
            <a:ext cx="1371600" cy="1371600"/>
          </a:xfrm>
          <a:prstGeom prst="ellipse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4630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818C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14630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14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in Python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Lecture Plan with Code Examples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383280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401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Classes &amp; Objects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767328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785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Constructors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4151376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169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Attributes &amp; Methods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535424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553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Encapsulation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383280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401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Inheritance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767328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785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Polymorphism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4151376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4169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Abstraction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4535424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4553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Mini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411480" cy="32004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OOP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OOP and why does it matter?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36576" cy="3931920"/>
          </a:xfrm>
          <a:prstGeom prst="rect">
            <a:avLst/>
          </a:prstGeom>
          <a:solidFill>
            <a:srgbClr val="34D3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OOP?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is a programming paradigm that organizes code around objects and classes rather than functions and procedures.
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4 Pillars: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Encapsulation  •  Inheritance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Polymorphism   •  Abstraction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148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14400"/>
            <a:ext cx="36576" cy="3931920"/>
          </a:xfrm>
          <a:prstGeom prst="rect">
            <a:avLst/>
          </a:prstGeom>
          <a:solidFill>
            <a:srgbClr val="818C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OOP?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141732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 — write once, use many times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 — break complex problems into objects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— easy to update code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— grows with your project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modeling — mirrors how we think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411480" cy="32004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and Objects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vs Instance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347472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36576" cy="4023360"/>
          </a:xfrm>
          <a:prstGeom prst="rect">
            <a:avLst/>
          </a:prstGeom>
          <a:solidFill>
            <a:srgbClr val="818C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60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32588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a blueprint/template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is an instance of a class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class keyword to define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are created by calling the class like a function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has its own state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objects can share the same class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31920" y="868680"/>
            <a:ext cx="4983480" cy="402336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31920" y="868680"/>
            <a:ext cx="498348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96012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0248" y="96012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71416" y="96012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8869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005072" y="1188720"/>
            <a:ext cx="4846320" cy="35661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brand = "Toyota"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speed = 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Creating objects (instances)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car1 = Car()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car2 = Car()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car1.brand = "BMW"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car2.brand = "Tesla"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print(car1.brand)   # BMW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print(car2.brand)   # Tesla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print(car1.speed)   # 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411480" cy="32004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__init__()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Initializing objects at creation 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347472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36576" cy="4023360"/>
          </a:xfrm>
          <a:prstGeom prst="rect">
            <a:avLst/>
          </a:prstGeom>
          <a:solidFill>
            <a:srgbClr val="818C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60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32588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runs automatically when an object is created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refers to the current object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self.attr to set instance attributes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can take parameters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gets its own copy of attributes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define __init__ for proper initialization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31920" y="868680"/>
            <a:ext cx="4983480" cy="402336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31920" y="868680"/>
            <a:ext cx="498348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96012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0248" y="96012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71416" y="96012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8869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005072" y="1188720"/>
            <a:ext cx="4846320" cy="35661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age):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   # instance attribute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self.age  = age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Objects initialized at creation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= Person("Alice", 25)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= Person("Bob",   30)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print(p1.name)   # Alice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print(p2.name)   # Bob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print(p1.age)    # 25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411480" cy="32004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and Methods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behavior inside a class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347472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36576" cy="4023360"/>
          </a:xfrm>
          <a:prstGeom prst="rect">
            <a:avLst/>
          </a:prstGeom>
          <a:solidFill>
            <a:srgbClr val="818C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60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32588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= data stored in an object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= functions defined inside a class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is the first parameter of every method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attributes are unique per object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attributes are shared across instances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methods using dot notation: obj.method()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31920" y="868680"/>
            <a:ext cx="4983480" cy="402336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31920" y="868680"/>
            <a:ext cx="498348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96012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0248" y="96012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71416" y="96012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8869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005072" y="1188720"/>
            <a:ext cx="4846320" cy="35661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bank = "Python Bank"   # class attribute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owner, balance=0):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self.owner   = owner     # instance attr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= balance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deposit(self, amount):   # method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+= amount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show(self):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print(f"{self.owner}: $" + "{self.balance}")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BankAccount("Alice", 100)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acc.deposit(50)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acc.show()     # Alice: $150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411480" cy="32004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internal details from the outside world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347472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36576" cy="4023360"/>
          </a:xfrm>
          <a:prstGeom prst="rect">
            <a:avLst/>
          </a:prstGeom>
          <a:solidFill>
            <a:srgbClr val="818C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60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32588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access to class internals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accessible from anywhere (name)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_protected: convention, internal use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__private: name-mangled, truly hidden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getters/setters to expose data safely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accidental modification of data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31920" y="868680"/>
            <a:ext cx="4983480" cy="402336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31920" y="868680"/>
            <a:ext cx="498348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96012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0248" y="96012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71416" y="96012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8869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005072" y="1188720"/>
            <a:ext cx="4846320" cy="35661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Employee: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salary):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    = name       # public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self.__salary = salary     # private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get_salary(self):          # getter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self.__salary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set_salary(self, amount):  # setter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amount &gt; 0: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self.__salary = amount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 = Employee("Alice", 5000)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print(emp.get_salary())   # 5000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emp.set_salary(6000)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print(emp.get_salary())   # 6000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emp.__salary → AttributeError!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411480" cy="32004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classes inherit from parent classes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347472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36576" cy="4023360"/>
          </a:xfrm>
          <a:prstGeom prst="rect">
            <a:avLst/>
          </a:prstGeom>
          <a:solidFill>
            <a:srgbClr val="818C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60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32588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class reuses parent's code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class Child(Parent)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 calls the parent's method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can override parent methods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multi-level inheritance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code reuse — DRY principle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31920" y="868680"/>
            <a:ext cx="4983480" cy="402336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31920" y="868680"/>
            <a:ext cx="498348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96012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0248" y="96012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71416" y="96012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8869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005072" y="1188720"/>
            <a:ext cx="4846320" cy="35661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speak(self):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print(f"{self.name} makes a sound")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Dog(Animal):      # inherits Animal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breed):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super().__init__(name)  # call parent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self.breed = breed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speak(self):    # override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print(f"{self.name} says: Woof!")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Dog("Rex", "Labrador")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d.speak()    # Rex says: Woof!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print(isinstance(d, Animal))   # True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411480" cy="32004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interface, different implementations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347472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36576" cy="4023360"/>
          </a:xfrm>
          <a:prstGeom prst="rect">
            <a:avLst/>
          </a:prstGeom>
          <a:solidFill>
            <a:srgbClr val="818C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60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32588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 = many, morphism = forms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method name, different behavior per class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overriding is key to polymorphism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inheritance hierarchies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writing generic code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uses duck typing for polymorphism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31920" y="868680"/>
            <a:ext cx="4983480" cy="402336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31920" y="868680"/>
            <a:ext cx="498348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96012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0248" y="96012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71416" y="96012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8869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005072" y="1188720"/>
            <a:ext cx="4846320" cy="35661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Shape: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Circle(Shape):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r): self.r = 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3.14 * self.r ** 2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Rectangle(Shape):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w, h): self.w=w; self.h=h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self.w * self.h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shapes = [Circle(5), Rectangle(4, 6)]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 in shapes:       # same method, diff result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print(s.area())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78.5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24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411480" cy="32004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interfaces without implementation details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347472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36576" cy="4023360"/>
          </a:xfrm>
          <a:prstGeom prst="rect">
            <a:avLst/>
          </a:prstGeom>
          <a:solidFill>
            <a:srgbClr val="818C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60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32588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complexity from the user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abc module (Abstract Base Class)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@abstractmethod marks required methods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instantiate abstract classes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 must implement all abstract methods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a consistent interface / contract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31920" y="868680"/>
            <a:ext cx="4983480" cy="402336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31920" y="868680"/>
            <a:ext cx="498348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96012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0248" y="96012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71416" y="96012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8869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005072" y="1188720"/>
            <a:ext cx="4846320" cy="35661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abc import ABC, abstractmethod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Vehicle(ABC):         # abstract class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start_engine(self): # must be overridden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stop_engine(self):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Car(Vehicle):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start_engine(self):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print("Car engine started")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stop_engine(self):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print("Car engine stopped")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my_car = Car()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my_car.start_engine()   # Car engine started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Vehicle()  → TypeError!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411480" cy="320040"/>
          </a:xfrm>
          <a:prstGeom prst="roundRect">
            <a:avLst>
              <a:gd name="adj" fmla="val 20000"/>
            </a:avLst>
          </a:prstGeom>
          <a:solidFill>
            <a:srgbClr val="FBBF2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— Library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all OOP concepts together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234440" cy="228600"/>
          </a:xfrm>
          <a:prstGeom prst="roundRect">
            <a:avLst>
              <a:gd name="adj" fmla="val 20000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45920" y="841248"/>
            <a:ext cx="1234440" cy="228600"/>
          </a:xfrm>
          <a:prstGeom prst="roundRect">
            <a:avLst>
              <a:gd name="adj" fmla="val 20000"/>
            </a:avLst>
          </a:prstGeom>
          <a:solidFill>
            <a:srgbClr val="34D399">
              <a:alpha val="25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84124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017520" y="841248"/>
            <a:ext cx="1234440" cy="228600"/>
          </a:xfrm>
          <a:prstGeom prst="roundRect">
            <a:avLst>
              <a:gd name="adj" fmla="val 20000"/>
            </a:avLst>
          </a:prstGeom>
          <a:solidFill>
            <a:srgbClr val="38BDF8">
              <a:alpha val="25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84124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133856"/>
            <a:ext cx="1234440" cy="228600"/>
          </a:xfrm>
          <a:prstGeom prst="roundRect">
            <a:avLst>
              <a:gd name="adj" fmla="val 20000"/>
            </a:avLst>
          </a:prstGeom>
          <a:solidFill>
            <a:srgbClr val="FBBF24">
              <a:alpha val="25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13385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45920" y="1133856"/>
            <a:ext cx="1234440" cy="228600"/>
          </a:xfrm>
          <a:prstGeom prst="roundRect">
            <a:avLst>
              <a:gd name="adj" fmla="val 20000"/>
            </a:avLst>
          </a:prstGeom>
          <a:solidFill>
            <a:srgbClr val="F87171">
              <a:alpha val="25000"/>
            </a:srgbClr>
          </a:solidFill>
          <a:ln w="12700">
            <a:solidFill>
              <a:srgbClr val="F87171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113385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17520" y="1133856"/>
            <a:ext cx="1234440" cy="228600"/>
          </a:xfrm>
          <a:prstGeom prst="roundRect">
            <a:avLst>
              <a:gd name="adj" fmla="val 20000"/>
            </a:avLst>
          </a:prstGeom>
          <a:solidFill>
            <a:srgbClr val="94A3B8">
              <a:alpha val="25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113385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1508760"/>
            <a:ext cx="8641080" cy="3383280"/>
          </a:xfrm>
          <a:prstGeom prst="rect">
            <a:avLst/>
          </a:prstGeom>
          <a:solidFill>
            <a:srgbClr val="020617"/>
          </a:solidFill>
          <a:ln w="12700">
            <a:solidFill>
              <a:srgbClr val="FBBF24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1508760"/>
            <a:ext cx="8641080" cy="2743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1591056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" y="1591056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1591056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152704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library_system.py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7472" y="1828800"/>
            <a:ext cx="8503920" cy="2926080"/>
          </a:xfrm>
          <a:prstGeom prst="rect">
            <a:avLst/>
          </a:prstGeom>
          <a:noFill/>
          <a:ln/>
        </p:spPr>
        <p:txBody>
          <a:bodyPr wrap="square" lIns="25400" tIns="101600" rIns="508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abc import ABC, abstractmethod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LibraryItem(ABC):               # Abstraction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title, year):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self.title = title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self.__year = year            # Encapsulation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get_year(self): return self.__year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display_info(self): pass      # must be implemented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Book(LibraryItem):              # Inheritance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title, year, author):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super().__init__(title, year)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self.author = author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display_info(self):           # Polymorphism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print(f"[Book] {self.title} by {self.author} ({self.get_year()})")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Magazine(LibraryItem):          # Inheritance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title, year, issue):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super().__init__(title, year)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self.issue = issue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display_info(self):           # Polymorphism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print(f"[Magazine] {self.title} Issue #{self.issue} ({self.get_year()})")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 = [Book("Python 101", 2022, "John"), Magazine("Tech Today", 2024, 42)]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library: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item.display_info()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[Book] Python 101 by John (2022)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[Magazine] Tech Today Issue #42 (2024)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in Python — Summary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 the 4 pillars of OOP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920240" cy="2377440"/>
          </a:xfrm>
          <a:prstGeom prst="rect">
            <a:avLst/>
          </a:prstGeom>
          <a:solidFill>
            <a:srgbClr val="0F172A"/>
          </a:solidFill>
          <a:ln w="12700">
            <a:solidFill>
              <a:srgbClr val="818CF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192024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internal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691640"/>
            <a:ext cx="1920240" cy="2377440"/>
          </a:xfrm>
          <a:prstGeom prst="rect">
            <a:avLst/>
          </a:prstGeom>
          <a:solidFill>
            <a:srgbClr val="0F172A"/>
          </a:solidFill>
          <a:ln w="12700">
            <a:solidFill>
              <a:srgbClr val="34D399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691640"/>
            <a:ext cx="192024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2860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parent code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1920240" cy="23774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691640"/>
            <a:ext cx="192024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2860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interface, many forms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691640"/>
            <a:ext cx="1920240" cy="2377440"/>
          </a:xfrm>
          <a:prstGeom prst="rect">
            <a:avLst/>
          </a:prstGeom>
          <a:solidFill>
            <a:srgbClr val="0F172A"/>
          </a:solidFill>
          <a:ln w="12700">
            <a:solidFill>
              <a:srgbClr val="FBBF2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691640"/>
            <a:ext cx="192024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22860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complexity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practicing with the Mini Project — build more real-world systems!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in Python</dc:title>
  <dc:subject>PptxGenJS Presentation</dc:subject>
  <dc:creator>PptxGenJS</dc:creator>
  <cp:lastModifiedBy>PptxGenJS</cp:lastModifiedBy>
  <cp:revision>1</cp:revision>
  <dcterms:created xsi:type="dcterms:W3CDTF">2026-05-07T15:39:02Z</dcterms:created>
  <dcterms:modified xsi:type="dcterms:W3CDTF">2026-05-07T15:39:02Z</dcterms:modified>
</cp:coreProperties>
</file>