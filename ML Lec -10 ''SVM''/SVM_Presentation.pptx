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7863840" y="-274320"/>
            <a:ext cx="2926080" cy="29260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 rot="2100000">
            <a:off x="8366760" y="-274320"/>
            <a:ext cx="2926080" cy="29260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869680" y="-274320"/>
            <a:ext cx="2926080" cy="29260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503920" y="45720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0" y="82296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0" y="128016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9235440" y="36576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0" y="100584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1737360"/>
            <a:ext cx="146304" cy="146304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11" name="Shape 9"/>
          <p:cNvSpPr/>
          <p:nvPr/>
        </p:nvSpPr>
        <p:spPr>
          <a:xfrm>
            <a:off x="10149840" y="2103120"/>
            <a:ext cx="146304" cy="146304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12" name="Shape 10"/>
          <p:cNvSpPr/>
          <p:nvPr/>
        </p:nvSpPr>
        <p:spPr>
          <a:xfrm>
            <a:off x="9966960" y="2560320"/>
            <a:ext cx="146304" cy="146304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0" y="1920240"/>
            <a:ext cx="146304" cy="146304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2377440"/>
            <a:ext cx="146304" cy="146304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optimal boundary between classes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10-part introduction to theory, math intuition, and practical use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84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SVM?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08760"/>
            <a:ext cx="5303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0242B"/>
                </a:solidFill>
              </a:rPr>
              <a:t>A supervised learning algorithm
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</a:rPr>
              <a:t>Used for classification (and regression) tasks, most powerful for binary classification problems.
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0242B"/>
                </a:solidFill>
              </a:rPr>
              <a:t>Core objective
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</a:rPr>
              <a:t>Find the decision boundary — a hyperplane — that best separates data points belonging to different classes.
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0242B"/>
                </a:solidFill>
              </a:rPr>
              <a:t>What makes it different
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</a:rPr>
              <a:t>Instead of just any separating line, SVM looks for the one that maximizes the distance to the nearest data points.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55448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-2100000">
            <a:off x="7132320" y="2103120"/>
            <a:ext cx="3566160" cy="3200400"/>
          </a:xfrm>
          <a:prstGeom prst="line">
            <a:avLst/>
          </a:prstGeom>
          <a:noFill/>
          <a:ln w="31750">
            <a:solidFill>
              <a:srgbClr val="212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2377440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926080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3291840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2194560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3749040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4480560"/>
            <a:ext cx="256032" cy="256032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4023360"/>
            <a:ext cx="256032" cy="256032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5029200"/>
            <a:ext cx="256032" cy="256032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4663440"/>
            <a:ext cx="256032" cy="256032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5303520"/>
            <a:ext cx="256032" cy="256032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5532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84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Idea: Maximum Margin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doesn't just separate the classes — it separates them by the widest possible gap.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65836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-1920000">
            <a:off x="1554480" y="4023360"/>
            <a:ext cx="512064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920000">
            <a:off x="1254054" y="4504142"/>
            <a:ext cx="51206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rot="-1920000">
            <a:off x="1854906" y="3542578"/>
            <a:ext cx="51206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463040" y="49834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553212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580644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525780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434340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58978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269748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324612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1460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315468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24028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06324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3480000">
            <a:off x="3520440" y="5440680"/>
            <a:ext cx="1188720" cy="0"/>
          </a:xfrm>
          <a:prstGeom prst="line">
            <a:avLst/>
          </a:prstGeom>
          <a:noFill/>
          <a:ln w="15875">
            <a:solidFill>
              <a:srgbClr val="20242B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657600" y="5623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1783080"/>
            <a:ext cx="3749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Hyperplane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</a:rPr>
              <a:t>A line (2D) or plane (3D+) that divides the feature space into two classes.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Margin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</a:rPr>
              <a:t>The distance between the hyperplane and the nearest point of each class.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The optimization goal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</a:rPr>
              <a:t>Among all possible separating boundaries, SVM chooses the one with the maximum margin — this gives the best generalization to new data.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84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points closest to the hyperplane — and the only ones that matter.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65836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-1920000">
            <a:off x="1554480" y="4023360"/>
            <a:ext cx="512064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920000">
            <a:off x="1254054" y="4504142"/>
            <a:ext cx="51206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rot="-1920000">
            <a:off x="1854906" y="3542578"/>
            <a:ext cx="51206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463040" y="49834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553212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580644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58978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269748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51460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315468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06324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41448" y="3995928"/>
            <a:ext cx="512064" cy="512064"/>
          </a:xfrm>
          <a:prstGeom prst="ellipse">
            <a:avLst/>
          </a:prstGeom>
          <a:ln w="22225">
            <a:solidFill>
              <a:srgbClr val="20242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560320" y="411480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7408" y="3447288"/>
            <a:ext cx="512064" cy="512064"/>
          </a:xfrm>
          <a:prstGeom prst="ellipse">
            <a:avLst/>
          </a:prstGeom>
          <a:ln w="22225">
            <a:solidFill>
              <a:srgbClr val="20242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26280" y="356616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21408" y="4818888"/>
            <a:ext cx="512064" cy="512064"/>
          </a:xfrm>
          <a:prstGeom prst="ellipse">
            <a:avLst/>
          </a:prstGeom>
          <a:ln w="22225">
            <a:solidFill>
              <a:srgbClr val="20242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240280" y="493776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2624328"/>
            <a:ext cx="512064" cy="512064"/>
          </a:xfrm>
          <a:prstGeom prst="ellipse">
            <a:avLst/>
          </a:prstGeom>
          <a:ln w="22225">
            <a:solidFill>
              <a:srgbClr val="20242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983480" y="274320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(closest points, circled)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1783080"/>
            <a:ext cx="3749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Why they matter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</a:rPr>
              <a:t>The position and orientation of the hyperplane depend only on the support vectors — not on every point in the dataset.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Practical effect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</a:rPr>
              <a:t>Points far from the boundary could be removed without changing it at all — this is what makes SVM memory-efficient at prediction time.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Name origin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</a:rPr>
              <a:t>These critical points literally "support" the margin — hence Support Vector Machine.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84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Margin vs. Soft Margin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noisy — the C parameter controls how strict the boundary 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5212080" cy="128016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Margin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for errors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97280" y="319125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30358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perfectly linearly separable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396849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5880" y="38130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point may sit inside the margin or on the wrong side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97280" y="474573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45902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sensitive to outliers and noise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7280" y="552297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25880" y="536752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usable on real-world datasets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73736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737360"/>
            <a:ext cx="5212080" cy="128016"/>
          </a:xfrm>
          <a:prstGeom prst="roundRect">
            <a:avLst/>
          </a:prstGeom>
          <a:solidFill>
            <a:srgbClr val="D978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Margin (C)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7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some misclassification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3191256"/>
            <a:ext cx="82296" cy="82296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30358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a penalty for points that violate the margin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29400" y="3968496"/>
            <a:ext cx="82296" cy="82296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38130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 → stricter boundary, fewer allowed errors, risk of overfitting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0" y="4745736"/>
            <a:ext cx="82296" cy="82296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5902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 → wider margin, more tolerance, risk of underfitting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29400" y="5522976"/>
            <a:ext cx="82296" cy="82296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0" y="536752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tuned via cross-validation for best results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84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Data Isn't Linearly Separable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straight line can separate these two classes — SVM needs another approach.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60350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48840" y="2962656"/>
            <a:ext cx="3383280" cy="2304288"/>
          </a:xfrm>
          <a:prstGeom prst="ellipse">
            <a:avLst/>
          </a:prstGeom>
          <a:ln w="19050">
            <a:solidFill>
              <a:srgbClr val="E9EDF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394960" y="397764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1886" y="4653778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6066" y="5071655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0574" y="5071655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4754" y="4653778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977640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4754" y="3301502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0574" y="2883625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26066" y="2883625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1886" y="3301502"/>
            <a:ext cx="274320" cy="274320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397764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416052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411480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370332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374904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42976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straight line works here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1783080"/>
            <a:ext cx="4297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The problem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</a:rPr>
              <a:t>Many real datasets aren't linearly separable in their original feature space — one class surrounds the other, or the boundary is curved.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A naive fix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</a:rPr>
              <a:t>Manually engineer new features (e.g. distance from center) so the classes become separable — tedious and doesn't scale.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SVM's solution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</a:rPr>
              <a:t>Automatically project the data into a higher-dimensional space using the kernel trick — covered next.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Kernel Trick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into a higher dimension where a straight hyperplane can separate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767328" y="3538728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8524" y="4332211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7246" y="4754414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5668" y="4607784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2894" y="3960931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2894" y="3116525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5668" y="2469672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7246" y="2323042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8524" y="2745245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353872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1488" y="367588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04288" y="363016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4328" y="331012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95728" y="335584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5394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linearly separable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749040"/>
            <a:ext cx="109728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70916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φ(x)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89320" y="182880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 rot="-480000">
            <a:off x="6355080" y="4434840"/>
            <a:ext cx="2926080" cy="0"/>
          </a:xfrm>
          <a:prstGeom prst="line">
            <a:avLst/>
          </a:prstGeom>
          <a:noFill/>
          <a:ln w="31750">
            <a:solidFill>
              <a:srgbClr val="2129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8190" y="3218688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19348" y="3541959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7145" y="3713968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59777" y="3654229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61251" y="3390697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61251" y="3390697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59777" y="3654229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7145" y="3713968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19348" y="3541959"/>
            <a:ext cx="237744" cy="237744"/>
          </a:xfrm>
          <a:prstGeom prst="ellipse">
            <a:avLst/>
          </a:prstGeom>
          <a:solidFill>
            <a:srgbClr val="D978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99248" y="463600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27848" y="468172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70648" y="4654296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90688" y="454456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62088" y="4562856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72200" y="5394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separable by a plane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The trick: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kernel functions compute similarity in the higher-dimensional space directly — without ever calculating the transformation φ(x) explicitly. This keeps SVM computationally efficient even in very high dimensions.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84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Kernel Functions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kernels shape the decision boundary in different ways.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1560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128016" cy="859536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1783080"/>
            <a:ext cx="2286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783080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K(x,y) = x · 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783080"/>
            <a:ext cx="4251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already linearly separable; fast and simple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807208"/>
            <a:ext cx="1051560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807208"/>
            <a:ext cx="128016" cy="85953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2807208"/>
            <a:ext cx="2286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07208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K(x,y) = (x · y + c)ᵈ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807208"/>
            <a:ext cx="4251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boundaries; captures feature interactions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831336"/>
            <a:ext cx="1051560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831336"/>
            <a:ext cx="128016" cy="859536"/>
          </a:xfrm>
          <a:prstGeom prst="roundRect">
            <a:avLst/>
          </a:prstGeom>
          <a:solidFill>
            <a:srgbClr val="D978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88720" y="3831336"/>
            <a:ext cx="2286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(Gaussian)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831336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K(x,y) = exp(-γ‖x−y‖²)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831336"/>
            <a:ext cx="4251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default; handles complex, non-linear boundaries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855464"/>
            <a:ext cx="1051560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855464"/>
            <a:ext cx="128016" cy="859536"/>
          </a:xfrm>
          <a:prstGeom prst="roundRect">
            <a:avLst/>
          </a:prstGeom>
          <a:solidFill>
            <a:srgbClr val="6D5A8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88720" y="4855464"/>
            <a:ext cx="2286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Sigmoid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855464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K(x,y) = tanh(α x·y + c)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4855464"/>
            <a:ext cx="4251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 a neural-network activation; less commonly used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84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Disadvantages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97280" y="268833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25146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 high-dimensional spaces, even when dimensions exceed sample count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343814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32644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 — decision function uses only the support vectors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418795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401421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via different kernel functions for non-linear boundaries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93776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25880" y="476402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overfitting, especially in high-dimensional space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568756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25880" y="55138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a clear margin of separation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9EDF1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1874520"/>
            <a:ext cx="457200" cy="457200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629400" y="2688336"/>
            <a:ext cx="82296" cy="82296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25146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 grows significantly with large datasets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29400" y="3438144"/>
            <a:ext cx="82296" cy="82296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0" y="32644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directly provide probability estimates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187952"/>
            <a:ext cx="82296" cy="82296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0" y="401421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sensitive to kernel and hyperparameter choice (C, γ)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29400" y="4937760"/>
            <a:ext cx="82296" cy="82296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0" y="476402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effective on datasets with heavy class overlap or noise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687568"/>
            <a:ext cx="82296" cy="82296"/>
          </a:xfrm>
          <a:prstGeom prst="ellipse">
            <a:avLst/>
          </a:prstGeom>
          <a:solidFill>
            <a:srgbClr val="D9782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0" y="55138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interpret than simpler models like decision trees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Summary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SVM shows up in the real world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273268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391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20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&amp; Spam Classification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042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filtering, sentiment and topic classification in high-dimensional word-vector spaces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27326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0391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20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Recognition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3042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and handwritten digit recognition (e.g. classic MNIST benchmarks)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27326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3776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6576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Bioinformatics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04164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proteins and genes, cancer-type detection from gene expression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47472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27326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3776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6576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&amp; Risk Detection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04164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legitimate from fraudulent transactions with a clear margin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5349240"/>
            <a:ext cx="106984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532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Key takeaway: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SVM finds the widest possible margin between classes, relies only on the closest support vectors, and — with the kernel trick — handles non-linear boundaries without ever leaving the original feature space computationally.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2026-08-28T11:53:29Z</dcterms:created>
  <dcterms:modified xsi:type="dcterms:W3CDTF">2026-08-28T11:53:29Z</dcterms:modified>
</cp:coreProperties>
</file>